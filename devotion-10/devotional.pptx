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● 사도신경 강해 10 · 죽으시고, 장사된 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097280"/>
            <a:ext cx="10607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i="1" dirty="0">
                <a:solidFill>
                  <a:srgbClr val="000000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한 가족이 되신 예수님,</a:t>
            </a:r>
            <a:endParaRPr lang="en-US" sz="5600" dirty="0"/>
          </a:p>
          <a:p>
            <a:pPr indent="0" marL="0">
              <a:buNone/>
            </a:pPr>
            <a:r>
              <a:rPr lang="en-US" sz="5600" i="1" dirty="0">
                <a:solidFill>
                  <a:srgbClr val="000000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다섯 날의 묵상.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777240" y="2743200"/>
            <a:ext cx="7424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매일 한 편씩 — 본문 한 구절, 핵심 한 문장, 짧은 묵상글과 기도. 한 주를 함께 살아갑니다.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77240" y="3657600"/>
            <a:ext cx="2029968" cy="2286000"/>
          </a:xfrm>
          <a:prstGeom prst="roundRect">
            <a:avLst>
              <a:gd name="adj" fmla="val 7207"/>
            </a:avLst>
          </a:prstGeom>
          <a:solidFill>
            <a:srgbClr val="F5EFE0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388620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DAY 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05840" y="416052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00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고후 8:9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05840" y="5029200"/>
            <a:ext cx="1572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i="1" dirty="0">
                <a:solidFill>
                  <a:srgbClr val="000000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한 가족이 되신 예수님.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921508" y="3657600"/>
            <a:ext cx="2029968" cy="2286000"/>
          </a:xfrm>
          <a:prstGeom prst="roundRect">
            <a:avLst>
              <a:gd name="adj" fmla="val 7207"/>
            </a:avLst>
          </a:prstGeom>
          <a:solidFill>
            <a:srgbClr val="D4ECD8"/>
          </a:solidFill>
          <a:ln/>
        </p:spPr>
      </p:sp>
      <p:sp>
        <p:nvSpPr>
          <p:cNvPr id="10" name="Text 8"/>
          <p:cNvSpPr/>
          <p:nvPr/>
        </p:nvSpPr>
        <p:spPr>
          <a:xfrm>
            <a:off x="3150108" y="388620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DAY 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150108" y="416052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00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고후 8:9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150108" y="5029200"/>
            <a:ext cx="1572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i="1" dirty="0">
                <a:solidFill>
                  <a:srgbClr val="000000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가난과 부요의 교환.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065776" y="3657600"/>
            <a:ext cx="2029968" cy="2286000"/>
          </a:xfrm>
          <a:prstGeom prst="roundRect">
            <a:avLst>
              <a:gd name="adj" fmla="val 7207"/>
            </a:avLst>
          </a:prstGeom>
          <a:solidFill>
            <a:srgbClr val="E0D9F2"/>
          </a:solidFill>
          <a:ln/>
        </p:spPr>
      </p:sp>
      <p:sp>
        <p:nvSpPr>
          <p:cNvPr id="14" name="Text 12"/>
          <p:cNvSpPr/>
          <p:nvPr/>
        </p:nvSpPr>
        <p:spPr>
          <a:xfrm>
            <a:off x="5294376" y="388620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DAY 03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294376" y="416052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00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갈 3:13-14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294376" y="5029200"/>
            <a:ext cx="1572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i="1" dirty="0">
                <a:solidFill>
                  <a:srgbClr val="000000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저주를 짊어지신 예수님.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210044" y="3657600"/>
            <a:ext cx="2029968" cy="2286000"/>
          </a:xfrm>
          <a:prstGeom prst="roundRect">
            <a:avLst>
              <a:gd name="adj" fmla="val 7207"/>
            </a:avLst>
          </a:prstGeom>
          <a:solidFill>
            <a:srgbClr val="DBE89A"/>
          </a:solidFill>
          <a:ln/>
        </p:spPr>
      </p:sp>
      <p:sp>
        <p:nvSpPr>
          <p:cNvPr id="18" name="Text 16"/>
          <p:cNvSpPr/>
          <p:nvPr/>
        </p:nvSpPr>
        <p:spPr>
          <a:xfrm>
            <a:off x="7438644" y="388620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DAY 04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438644" y="416052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00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고후 5:21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438644" y="5029200"/>
            <a:ext cx="1572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i="1" dirty="0">
                <a:solidFill>
                  <a:srgbClr val="000000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의의 전가, 새로운 신분.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354312" y="3657600"/>
            <a:ext cx="2029968" cy="2286000"/>
          </a:xfrm>
          <a:prstGeom prst="roundRect">
            <a:avLst>
              <a:gd name="adj" fmla="val 7207"/>
            </a:avLst>
          </a:prstGeom>
          <a:solidFill>
            <a:srgbClr val="F5C5B8"/>
          </a:solidFill>
          <a:ln/>
        </p:spPr>
      </p:sp>
      <p:sp>
        <p:nvSpPr>
          <p:cNvPr id="22" name="Text 20"/>
          <p:cNvSpPr/>
          <p:nvPr/>
        </p:nvSpPr>
        <p:spPr>
          <a:xfrm>
            <a:off x="9582912" y="388620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DAY 05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582912" y="416052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00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롬 8:38-39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582912" y="5029200"/>
            <a:ext cx="1572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i="1" dirty="0">
                <a:solidFill>
                  <a:srgbClr val="000000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죽음조차 끊지 못하는 사랑.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0" y="0"/>
            <a:ext cx="12161520" cy="36576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0"/>
            <a:ext cx="760095" cy="36576"/>
          </a:xfrm>
          <a:prstGeom prst="rect">
            <a:avLst/>
          </a:prstGeom>
          <a:solidFill>
            <a:srgbClr val="FF2D87"/>
          </a:solidFill>
          <a:ln/>
        </p:spPr>
      </p:sp>
      <p:sp>
        <p:nvSpPr>
          <p:cNvPr id="27" name="Text 25"/>
          <p:cNvSpPr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8888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/ 16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888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한 가족이 되신 예수님 · 5일 묵상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● DAY 01 · 한 가족 되심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097280"/>
            <a:ext cx="10607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i="1" dirty="0">
                <a:solidFill>
                  <a:srgbClr val="000000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한 가족이</a:t>
            </a:r>
            <a:endParaRPr lang="en-US" sz="8000" dirty="0"/>
          </a:p>
          <a:p>
            <a:pPr indent="0" marL="0">
              <a:buNone/>
            </a:pPr>
            <a:r>
              <a:rPr lang="en-US" sz="8000" i="1" dirty="0">
                <a:solidFill>
                  <a:srgbClr val="000000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되신 예수님.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777240" y="411480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000000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예수님은 우리를 도와주신 게 아니라, 우리와 한 가족이 되셨습니다.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77240" y="4937760"/>
            <a:ext cx="36576" cy="12801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941832" y="4937760"/>
            <a:ext cx="8851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i="1" dirty="0">
                <a:solidFill>
                  <a:srgbClr val="000000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"그리스도께서는 부요하나, 여러분을 위해서 가난하게 되셨습니다. 그것은 그의 가난으로 여러분을 부요하게 하시려는 것입니다."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41832" y="5897880"/>
            <a:ext cx="8851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00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고린도후서 8:9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12161520" cy="36576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0"/>
            <a:ext cx="1520190" cy="36576"/>
          </a:xfrm>
          <a:prstGeom prst="rect">
            <a:avLst/>
          </a:prstGeom>
          <a:solidFill>
            <a:srgbClr val="FF2D87"/>
          </a:solidFill>
          <a:ln/>
        </p:spPr>
      </p:sp>
      <p:sp>
        <p:nvSpPr>
          <p:cNvPr id="10" name="Text 8"/>
          <p:cNvSpPr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8888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 / 16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888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한 가족이 되신 예수님 · 5일 묵상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DAY 01 · 묵상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09728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i="1" dirty="0">
                <a:solidFill>
                  <a:srgbClr val="000000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가족이 된다는 건,</a:t>
            </a:r>
            <a:endParaRPr lang="en-US" sz="4800" dirty="0"/>
          </a:p>
          <a:p>
            <a:pPr indent="0" marL="0">
              <a:buNone/>
            </a:pPr>
            <a:r>
              <a:rPr lang="en-US" sz="4800" i="1" dirty="0">
                <a:solidFill>
                  <a:srgbClr val="000000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모든 것을 함께 나눈다는 뜻입니다.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77240" y="3383280"/>
            <a:ext cx="90159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spcAft>
                <a:spcPts val="8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부모님 카드를 써본 적 있나요? 그 카드 속 돈은 부모님이 번 것이지만, 가족이라는 이유 하나로 내가 쓸 수 있습니다. 가족이 된다는 건 그런 겁니다 — 내가 일하지 않은 것까지 함께 누리는 것.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7240" y="4617720"/>
            <a:ext cx="90159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예수님이 우리에게 오신 방식이 그렇습니다. 좋은 것만 주시는 게 아니라, 우리의 모든 것 — 가난도, 저주도, 죄도 — 자기 것으로 가져가시고, 그분의 부요와 축복과 의로움을 우리에게 선물로 주셨습니다. 이것이 "그리스도와의 연합"입니다.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61520" cy="36576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0"/>
            <a:ext cx="2280285" cy="36576"/>
          </a:xfrm>
          <a:prstGeom prst="rect">
            <a:avLst/>
          </a:prstGeom>
          <a:solidFill>
            <a:srgbClr val="FF2D87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8888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 / 16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888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한 가족이 되신 예수님 · 5일 묵상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4E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DAY 01 · 적용 + 기도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09728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i="1" dirty="0">
                <a:solidFill>
                  <a:srgbClr val="000000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한 가지만 골라, 오늘 마음에 두기.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77240" y="2468880"/>
            <a:ext cx="9015984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6517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54480" y="2606040"/>
            <a:ext cx="8055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오늘 내가 예수님께 "가족이라서" 가져가시도록 맡길 수 있는 한 가지는 무엇입니까?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3474720"/>
            <a:ext cx="9015984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6576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54480" y="3611880"/>
            <a:ext cx="8055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"가족이 되어 주셨다"는 표현을 들었을 때, 가장 먼저 떠오르는 장면이나 느낌은?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4846320"/>
            <a:ext cx="9015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spcAft>
                <a:spcPts val="400"/>
              </a:spcAft>
              <a:buNone/>
            </a:pPr>
            <a:r>
              <a:rPr lang="en-US" sz="1800" i="1" dirty="0">
                <a:solidFill>
                  <a:srgbClr val="000000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예수님, 저를 돕는 분이 아니라 한 가족이 되어 주셔서 감사합니다.</a:t>
            </a:r>
            <a:endParaRPr lang="en-US" sz="1800" dirty="0"/>
          </a:p>
          <a:p>
            <a:pPr indent="0" marL="0">
              <a:lnSpc>
                <a:spcPct val="155000"/>
              </a:lnSpc>
              <a:spcAft>
                <a:spcPts val="400"/>
              </a:spcAft>
              <a:buNone/>
            </a:pPr>
            <a:r>
              <a:rPr lang="en-US" sz="1800" i="1" dirty="0">
                <a:solidFill>
                  <a:srgbClr val="000000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오늘 제 짐을 혼자 지지 않고, 당신께 가져가게 하소서.</a:t>
            </a:r>
            <a:endParaRPr lang="en-US" sz="1800" dirty="0"/>
          </a:p>
          <a:p>
            <a:pPr indent="0" marL="0">
              <a:lnSpc>
                <a:spcPct val="155000"/>
              </a:lnSpc>
              <a:spcAft>
                <a:spcPts val="400"/>
              </a:spcAft>
              <a:buNone/>
            </a:pPr>
            <a:r>
              <a:rPr lang="en-US" sz="1800" i="1" dirty="0">
                <a:solidFill>
                  <a:srgbClr val="000000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가족으로 함께 살아가는 하루가 되게 하소서.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5989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00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— 아멘.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0"/>
            <a:ext cx="12161520" cy="36576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0"/>
            <a:ext cx="3040380" cy="36576"/>
          </a:xfrm>
          <a:prstGeom prst="rect">
            <a:avLst/>
          </a:prstGeom>
          <a:solidFill>
            <a:srgbClr val="FF2D87"/>
          </a:solidFill>
          <a:ln/>
        </p:spPr>
      </p:sp>
      <p:sp>
        <p:nvSpPr>
          <p:cNvPr id="14" name="Text 12"/>
          <p:cNvSpPr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8888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 / 16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888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한 가족이 되신 예수님 · 5일 묵상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4E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● DAY 02 · 부요와 가난의 교환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097280"/>
            <a:ext cx="10607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i="1" dirty="0">
                <a:solidFill>
                  <a:srgbClr val="000000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가난과</a:t>
            </a:r>
            <a:endParaRPr lang="en-US" sz="8000" dirty="0"/>
          </a:p>
          <a:p>
            <a:pPr indent="0" marL="0">
              <a:buNone/>
            </a:pPr>
            <a:r>
              <a:rPr lang="en-US" sz="8000" i="1" dirty="0">
                <a:solidFill>
                  <a:srgbClr val="000000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부요의 교환.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777240" y="411480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000000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그분이 가난해지셨기에, 나는 부요해졌습니다.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77240" y="4937760"/>
            <a:ext cx="36576" cy="12801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941832" y="4937760"/>
            <a:ext cx="8851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i="1" dirty="0">
                <a:solidFill>
                  <a:srgbClr val="000000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"그리스도께서는 부요하나, 여러분을 위해서 가난하게 되셨습니다. 그것은 그의 가난으로 여러분을 부요하게 하시려는 것입니다."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41832" y="5897880"/>
            <a:ext cx="8851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00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고린도후서 8:9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12161520" cy="36576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0"/>
            <a:ext cx="3800475" cy="36576"/>
          </a:xfrm>
          <a:prstGeom prst="rect">
            <a:avLst/>
          </a:prstGeom>
          <a:solidFill>
            <a:srgbClr val="FF2D87"/>
          </a:solidFill>
          <a:ln/>
        </p:spPr>
      </p:sp>
      <p:sp>
        <p:nvSpPr>
          <p:cNvPr id="10" name="Text 8"/>
          <p:cNvSpPr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8888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 / 16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888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한 가족이 되신 예수님 · 5일 묵상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DAY 02 · 묵상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09728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i="1" dirty="0">
                <a:solidFill>
                  <a:srgbClr val="000000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도와주신 게 아니라,</a:t>
            </a:r>
            <a:endParaRPr lang="en-US" sz="4800" dirty="0"/>
          </a:p>
          <a:p>
            <a:pPr indent="0" marL="0">
              <a:buNone/>
            </a:pPr>
            <a:r>
              <a:rPr lang="en-US" sz="4800" i="1" dirty="0">
                <a:solidFill>
                  <a:srgbClr val="000000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내 자리에 직접 내려오셨습니다.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77240" y="3383280"/>
            <a:ext cx="90159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spcAft>
                <a:spcPts val="8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예수님은 후원자가 아니라 우리 자리에 직접 내려오신 분입니다. 그분이 가난하셨기에 우리는 부요해졌고, 그분이 낮아지셨기에 우리는 높여졌습니다.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7240" y="4617720"/>
            <a:ext cx="90159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가난은 단지 돈이 없는 것만 아닙니다. 사랑받지 못함, 인정받지 못함, 안전감의 부재 — 이 모든 가난을 그분이 먼저 지나가셨습니다. 그래서 그분은 그 자리에서 손을 내미십니다 — "나도 거기 있었다"고.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61520" cy="36576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0"/>
            <a:ext cx="4560570" cy="36576"/>
          </a:xfrm>
          <a:prstGeom prst="rect">
            <a:avLst/>
          </a:prstGeom>
          <a:solidFill>
            <a:srgbClr val="FF2D87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8888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06 / 16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888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한 가족이 되신 예수님 · 5일 묵상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0D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DAY 02 · 적용 + 기도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09728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i="1" dirty="0">
                <a:solidFill>
                  <a:srgbClr val="000000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내 안의 "가난"을 한 단어로 적어보기.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77240" y="2468880"/>
            <a:ext cx="9015984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6517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54480" y="2606040"/>
            <a:ext cx="8055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내가 지금 느끼는 "가난"은 무엇입니까? 그것이 예수님이 이미 지나가신 자리임을 떠올려 보세요.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3474720"/>
            <a:ext cx="9015984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6576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54480" y="3611880"/>
            <a:ext cx="8055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오늘 누군가에게 "내가 가진 부요"를 작은 형태로라도 나눌 수 있는 한 가지는?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4846320"/>
            <a:ext cx="9015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spcAft>
                <a:spcPts val="400"/>
              </a:spcAft>
              <a:buNone/>
            </a:pPr>
            <a:r>
              <a:rPr lang="en-US" sz="1800" i="1" dirty="0">
                <a:solidFill>
                  <a:srgbClr val="000000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예수님, 저를 위해 가난해지신 그 사랑을 묵상합니다.</a:t>
            </a:r>
            <a:endParaRPr lang="en-US" sz="1800" dirty="0"/>
          </a:p>
          <a:p>
            <a:pPr indent="0" marL="0">
              <a:lnSpc>
                <a:spcPct val="155000"/>
              </a:lnSpc>
              <a:spcAft>
                <a:spcPts val="400"/>
              </a:spcAft>
              <a:buNone/>
            </a:pPr>
            <a:r>
              <a:rPr lang="en-US" sz="1800" i="1" dirty="0">
                <a:solidFill>
                  <a:srgbClr val="000000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오늘 제 결핍의 자리에 당신이 먼저 와 계셨음을 기억하게 하소서.</a:t>
            </a:r>
            <a:endParaRPr lang="en-US" sz="1800" dirty="0"/>
          </a:p>
          <a:p>
            <a:pPr indent="0" marL="0">
              <a:lnSpc>
                <a:spcPct val="155000"/>
              </a:lnSpc>
              <a:spcAft>
                <a:spcPts val="400"/>
              </a:spcAft>
              <a:buNone/>
            </a:pPr>
            <a:r>
              <a:rPr lang="en-US" sz="1800" i="1" dirty="0">
                <a:solidFill>
                  <a:srgbClr val="000000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그리고 저도 누군가에게 작은 부요를 흘려보내게 하소서.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5989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00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— 아멘.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0"/>
            <a:ext cx="12161520" cy="36576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0"/>
            <a:ext cx="5320665" cy="36576"/>
          </a:xfrm>
          <a:prstGeom prst="rect">
            <a:avLst/>
          </a:prstGeom>
          <a:solidFill>
            <a:srgbClr val="FF2D87"/>
          </a:solidFill>
          <a:ln/>
        </p:spPr>
      </p:sp>
      <p:sp>
        <p:nvSpPr>
          <p:cNvPr id="14" name="Text 12"/>
          <p:cNvSpPr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8888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07 / 16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888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한 가족이 되신 예수님 · 5일 묵상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0D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● DAY 03 · 저주의 자리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097280"/>
            <a:ext cx="10607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i="1" dirty="0">
                <a:solidFill>
                  <a:srgbClr val="000000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저주를</a:t>
            </a:r>
            <a:endParaRPr lang="en-US" sz="8000" dirty="0"/>
          </a:p>
          <a:p>
            <a:pPr indent="0" marL="0">
              <a:buNone/>
            </a:pPr>
            <a:r>
              <a:rPr lang="en-US" sz="8000" i="1" dirty="0">
                <a:solidFill>
                  <a:srgbClr val="000000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짊어지신 예수님.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777240" y="411480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000000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가장 큰 저주의 자리에 그분이 가셨기에, 가장 큰 축복이 내게 흘러옵니다.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77240" y="4937760"/>
            <a:ext cx="36576" cy="12801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941832" y="4937760"/>
            <a:ext cx="8851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i="1" dirty="0">
                <a:solidFill>
                  <a:srgbClr val="000000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"그리스도께서 우리를 위하여 저주를 받은 사람이 되심으로써, 우리를 율법의 저주에서 속량해 주셨습니다."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41832" y="5897880"/>
            <a:ext cx="8851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00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갈라디아서 3:13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12161520" cy="36576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0"/>
            <a:ext cx="6080760" cy="36576"/>
          </a:xfrm>
          <a:prstGeom prst="rect">
            <a:avLst/>
          </a:prstGeom>
          <a:solidFill>
            <a:srgbClr val="FF2D87"/>
          </a:solidFill>
          <a:ln/>
        </p:spPr>
      </p:sp>
      <p:sp>
        <p:nvSpPr>
          <p:cNvPr id="10" name="Text 8"/>
          <p:cNvSpPr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8888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08 / 16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888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한 가족이 되신 예수님 · 5일 묵상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DAY 03 · 묵상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09728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i="1" dirty="0">
                <a:solidFill>
                  <a:srgbClr val="000000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예수님은 두려운 자리에</a:t>
            </a:r>
            <a:endParaRPr lang="en-US" sz="4800" dirty="0"/>
          </a:p>
          <a:p>
            <a:pPr indent="0" marL="0">
              <a:buNone/>
            </a:pPr>
            <a:r>
              <a:rPr lang="en-US" sz="4800" i="1" dirty="0">
                <a:solidFill>
                  <a:srgbClr val="000000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먼저 가신 분입니다.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77240" y="3383280"/>
            <a:ext cx="90159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spcAft>
                <a:spcPts val="8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십자가는 단순한 처형 도구가 아니었습니다. 당시 사람들에게 그것은 "저 사람은 하나님께 버림받았다"라는 가장 큰 모욕이자 저주였습니다.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7240" y="4617720"/>
            <a:ext cx="90159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 자리에 예수님이 가셨습니다. 자기 잘못이 하나도 없으셨는데도 — 우리가 받아야 할 저주를 자기 등에 지셨습니다. 우리가 두려워하는 것 — 거절, 실패, 버림받음 — 그 모든 그늘을 그분이 먼저 통과하셨기에, 우리는 이제 정죄가 아닌 축복 안에서 살게 됩니다.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61520" cy="36576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0"/>
            <a:ext cx="6840855" cy="36576"/>
          </a:xfrm>
          <a:prstGeom prst="rect">
            <a:avLst/>
          </a:prstGeom>
          <a:solidFill>
            <a:srgbClr val="FF2D87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8888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09 / 16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888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한 가족이 되신 예수님 · 5일 묵상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C5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DAY 03 · 적용 + 기도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09728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i="1" dirty="0">
                <a:solidFill>
                  <a:srgbClr val="000000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내 안의 "버림받음"의 그림자를 마주하기.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77240" y="2468880"/>
            <a:ext cx="9015984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6517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54480" y="2606040"/>
            <a:ext cx="8055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내가 두려워하는 "버림받음"의 형태는 무엇입니까? 그 자리에도 예수님이 먼저 가셨다는 사실이 위로가 됩니까?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3474720"/>
            <a:ext cx="9015984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6576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54480" y="3611880"/>
            <a:ext cx="8055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오늘 내가 누군가의 "저주" — 외로움이나 수치 — 를 조금이라도 함께 짊어질 수 있다면 무엇입니까?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4846320"/>
            <a:ext cx="9015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spcAft>
                <a:spcPts val="400"/>
              </a:spcAft>
              <a:buNone/>
            </a:pPr>
            <a:r>
              <a:rPr lang="en-US" sz="1800" i="1" dirty="0">
                <a:solidFill>
                  <a:srgbClr val="000000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예수님, 가장 깊은 어둠의 자리에 먼저 가셔서 감사합니다.</a:t>
            </a:r>
            <a:endParaRPr lang="en-US" sz="1800" dirty="0"/>
          </a:p>
          <a:p>
            <a:pPr indent="0" marL="0">
              <a:lnSpc>
                <a:spcPct val="155000"/>
              </a:lnSpc>
              <a:spcAft>
                <a:spcPts val="400"/>
              </a:spcAft>
              <a:buNone/>
            </a:pPr>
            <a:r>
              <a:rPr lang="en-US" sz="1800" i="1" dirty="0">
                <a:solidFill>
                  <a:srgbClr val="000000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제가 두려워하는 곳마다 당신의 발자국이 먼저 새겨져 있음을 보게 하소서.</a:t>
            </a:r>
            <a:endParaRPr lang="en-US" sz="1800" dirty="0"/>
          </a:p>
          <a:p>
            <a:pPr indent="0" marL="0">
              <a:lnSpc>
                <a:spcPct val="155000"/>
              </a:lnSpc>
              <a:spcAft>
                <a:spcPts val="400"/>
              </a:spcAft>
              <a:buNone/>
            </a:pPr>
            <a:r>
              <a:rPr lang="en-US" sz="1800" i="1" dirty="0">
                <a:solidFill>
                  <a:srgbClr val="000000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오늘 그 발자국을 따라 한 걸음 내딛게 하소서.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5989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00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— 아멘.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0"/>
            <a:ext cx="12161520" cy="36576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0"/>
            <a:ext cx="7600950" cy="36576"/>
          </a:xfrm>
          <a:prstGeom prst="rect">
            <a:avLst/>
          </a:prstGeom>
          <a:solidFill>
            <a:srgbClr val="FF2D87"/>
          </a:solidFill>
          <a:ln/>
        </p:spPr>
      </p:sp>
      <p:sp>
        <p:nvSpPr>
          <p:cNvPr id="14" name="Text 12"/>
          <p:cNvSpPr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8888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 / 16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888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한 가족이 되신 예수님 · 5일 묵상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DBE89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● DAY 04 · 새 신분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097280"/>
            <a:ext cx="10607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i="1" dirty="0">
                <a:solidFill>
                  <a:srgbClr val="000000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의의 전가,</a:t>
            </a:r>
            <a:endParaRPr lang="en-US" sz="8000" dirty="0"/>
          </a:p>
          <a:p>
            <a:pPr indent="0" marL="0">
              <a:buNone/>
            </a:pPr>
            <a:r>
              <a:rPr lang="en-US" sz="8000" i="1" dirty="0">
                <a:solidFill>
                  <a:srgbClr val="000000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새로운 신분.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777240" y="411480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000000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내가 의로워진 게 아니라, 그분의 의로움이 내게 입혀졌습니다.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77240" y="4937760"/>
            <a:ext cx="36576" cy="12801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941832" y="4937760"/>
            <a:ext cx="8851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i="1" dirty="0">
                <a:solidFill>
                  <a:srgbClr val="000000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"하나님께서는 죄를 모르시는 분에게 우리 대신으로 죄를 씌우셨습니다. 그것은 우리가 그리스도 안에서 하나님의 의가 되게 하시려는 것입니다."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41832" y="5897880"/>
            <a:ext cx="8851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00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고린도후서 5:21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12161520" cy="36576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0"/>
            <a:ext cx="8361045" cy="36576"/>
          </a:xfrm>
          <a:prstGeom prst="rect">
            <a:avLst/>
          </a:prstGeom>
          <a:solidFill>
            <a:srgbClr val="FF2D87"/>
          </a:solidFill>
          <a:ln/>
        </p:spPr>
      </p:sp>
      <p:sp>
        <p:nvSpPr>
          <p:cNvPr id="10" name="Text 8"/>
          <p:cNvSpPr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8888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 / 16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888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한 가족이 되신 예수님 · 5일 묵상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DAY 04 · 묵상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09728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i="1" dirty="0">
                <a:solidFill>
                  <a:srgbClr val="000000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하나님은 내가 한 일이 아니라,</a:t>
            </a:r>
            <a:endParaRPr lang="en-US" sz="4800" dirty="0"/>
          </a:p>
          <a:p>
            <a:pPr indent="0" marL="0">
              <a:buNone/>
            </a:pPr>
            <a:r>
              <a:rPr lang="en-US" sz="4800" i="1" dirty="0">
                <a:solidFill>
                  <a:srgbClr val="000000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예수님이 하신 일을 보십니다.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77240" y="3383280"/>
            <a:ext cx="90159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spcAft>
                <a:spcPts val="8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"내가 노력해서 깨끗해지면 하나님이 받아주시겠지" — 우리는 자주 이렇게 생각합니다. 그러나 본문은 정반대로 말합니다.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7240" y="4617720"/>
            <a:ext cx="90159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죄가 전혀 없으신 분이 우리 자리에 죄인으로 서셨고, 그래서 죄 많은 우리가 그분 안에서 의로운 사람이 되었습니다. 이것은 거래가 아니라 가족의 교환입니다. 하나님은 이제 우리를 볼 때, 우리가 한 일이 아니라 예수님이 하신 일을 보십니다. 이 신분의 변화 위에 우리의 매일이 세워집니다.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61520" cy="36576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0"/>
            <a:ext cx="9121140" cy="36576"/>
          </a:xfrm>
          <a:prstGeom prst="rect">
            <a:avLst/>
          </a:prstGeom>
          <a:solidFill>
            <a:srgbClr val="FF2D87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8888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 / 16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888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한 가족이 되신 예수님 · 5일 묵상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DAY 04 · 적용 + 기도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09728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i="1" dirty="0">
                <a:solidFill>
                  <a:srgbClr val="000000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"내 의로움"을 내려놓는 한 순간.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77240" y="2468880"/>
            <a:ext cx="9015984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6517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54480" y="2606040"/>
            <a:ext cx="8055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오늘 내가 "내 의로움"으로 평가받지 않고 "그분의 의로움" 안에서 산다면, 무엇이 가장 가벼워질까요?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3474720"/>
            <a:ext cx="9015984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6576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54480" y="3611880"/>
            <a:ext cx="8055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누군가를 그의 행동이 아니라 "예수님 안의 신분"으로 봐주는 한 번의 시선을 가져 보세요.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4846320"/>
            <a:ext cx="9015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spcAft>
                <a:spcPts val="400"/>
              </a:spcAft>
              <a:buNone/>
            </a:pPr>
            <a:r>
              <a:rPr lang="en-US" sz="1800" i="1" dirty="0">
                <a:solidFill>
                  <a:srgbClr val="000000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예수님, 제가 한 일이 아니라 당신이 하신 일을 의지하게 하소서.</a:t>
            </a:r>
            <a:endParaRPr lang="en-US" sz="1800" dirty="0"/>
          </a:p>
          <a:p>
            <a:pPr indent="0" marL="0">
              <a:lnSpc>
                <a:spcPct val="155000"/>
              </a:lnSpc>
              <a:spcAft>
                <a:spcPts val="400"/>
              </a:spcAft>
              <a:buNone/>
            </a:pPr>
            <a:r>
              <a:rPr lang="en-US" sz="1800" i="1" dirty="0">
                <a:solidFill>
                  <a:srgbClr val="000000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오늘 누군가를 평가가 아닌 사랑의 시선으로 바라보게 하소서.</a:t>
            </a:r>
            <a:endParaRPr lang="en-US" sz="1800" dirty="0"/>
          </a:p>
          <a:p>
            <a:pPr indent="0" marL="0">
              <a:lnSpc>
                <a:spcPct val="155000"/>
              </a:lnSpc>
              <a:spcAft>
                <a:spcPts val="400"/>
              </a:spcAft>
              <a:buNone/>
            </a:pPr>
            <a:r>
              <a:rPr lang="en-US" sz="1800" i="1" dirty="0">
                <a:solidFill>
                  <a:srgbClr val="000000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당신 안의 새 신분으로 살게 하소서.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5989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00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— 아멘.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0"/>
            <a:ext cx="12161520" cy="36576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0"/>
            <a:ext cx="9881235" cy="36576"/>
          </a:xfrm>
          <a:prstGeom prst="rect">
            <a:avLst/>
          </a:prstGeom>
          <a:solidFill>
            <a:srgbClr val="FF2D87"/>
          </a:solidFill>
          <a:ln/>
        </p:spPr>
      </p:sp>
      <p:sp>
        <p:nvSpPr>
          <p:cNvPr id="14" name="Text 12"/>
          <p:cNvSpPr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8888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13 / 16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888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한 가족이 되신 예수님 · 5일 묵상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C5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● DAY 05 · 끊어지지 않는 사랑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097280"/>
            <a:ext cx="10607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i="1" dirty="0">
                <a:solidFill>
                  <a:srgbClr val="000000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죽음조차</a:t>
            </a:r>
            <a:endParaRPr lang="en-US" sz="8000" dirty="0"/>
          </a:p>
          <a:p>
            <a:pPr indent="0" marL="0">
              <a:buNone/>
            </a:pPr>
            <a:r>
              <a:rPr lang="en-US" sz="8000" i="1" dirty="0">
                <a:solidFill>
                  <a:srgbClr val="000000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끊지 못하는 사랑.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777240" y="411480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000000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그분이 죽음의 자리까지 가셨기에, 그곳도 더는 우리를 끊지 못합니다.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77240" y="4937760"/>
            <a:ext cx="36576" cy="12801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941832" y="4937760"/>
            <a:ext cx="8851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i="1" dirty="0">
                <a:solidFill>
                  <a:srgbClr val="000000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"죽음도, 삶도… 그 어떤 피조물도, 우리를 우리 주 예수 그리스도 안에 있는 하나님의 사랑에서 끊을 수 없습니다."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41832" y="5897880"/>
            <a:ext cx="8851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00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로마서 8:38-39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12161520" cy="36576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0"/>
            <a:ext cx="10641330" cy="36576"/>
          </a:xfrm>
          <a:prstGeom prst="rect">
            <a:avLst/>
          </a:prstGeom>
          <a:solidFill>
            <a:srgbClr val="FF2D87"/>
          </a:solidFill>
          <a:ln/>
        </p:spPr>
      </p:sp>
      <p:sp>
        <p:nvSpPr>
          <p:cNvPr id="10" name="Text 8"/>
          <p:cNvSpPr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8888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14 / 16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888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한 가족이 되신 예수님 · 5일 묵상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DAY 05 · 묵상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09728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i="1" dirty="0">
                <a:solidFill>
                  <a:srgbClr val="000000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예수님이 먼저 가신 자리는,</a:t>
            </a:r>
            <a:endParaRPr lang="en-US" sz="4800" dirty="0"/>
          </a:p>
          <a:p>
            <a:pPr indent="0" marL="0">
              <a:buNone/>
            </a:pPr>
            <a:r>
              <a:rPr lang="en-US" sz="4800" i="1" dirty="0">
                <a:solidFill>
                  <a:srgbClr val="000000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더 이상 우리를 끊지 못합니다.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77240" y="3383280"/>
            <a:ext cx="90159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spcAft>
                <a:spcPts val="8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예수님의 죽음은 연극이 아니었습니다. 진짜로 심장이 멈추고, 무덤에 묻히신 사건입니다. 우리와 완전히 하나가 되시기 위해서였습니다.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7240" y="4617720"/>
            <a:ext cx="90159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외로움, 실패, 불안, 두려움 — 우리가 가는 모든 자리에 예수님은 먼저 가셨고, 거기서 우리에게 손을 내미십니다. 죽음조차도 그분의 사랑에서 우리를 끊지 못합니다. 이 한 주의 묵상이 끝이 아니라, 일상의 시작이 되기를.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61520" cy="36576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0"/>
            <a:ext cx="11401425" cy="36576"/>
          </a:xfrm>
          <a:prstGeom prst="rect">
            <a:avLst/>
          </a:prstGeom>
          <a:solidFill>
            <a:srgbClr val="FF2D87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8888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15 / 16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888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한 가족이 되신 예수님 · 5일 묵상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DBE89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DAY 05 · 적용 + 기도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09728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i="1" dirty="0">
                <a:solidFill>
                  <a:srgbClr val="000000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한 주의 묵상에서 한 가지를 챙겨가기.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77240" y="2468880"/>
            <a:ext cx="9015984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6517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54480" y="2606040"/>
            <a:ext cx="8055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이번 한 주 묵상을 통해 "예수님이 먼저 가신 자리"라는 표현이 가장 깊이 와닿은 순간은?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3474720"/>
            <a:ext cx="9015984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6576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54480" y="3611880"/>
            <a:ext cx="8055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다음 한 주, 어떤 한 가지 영역에서 이 진리를 살아내고 싶습니까?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4846320"/>
            <a:ext cx="9015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spcAft>
                <a:spcPts val="400"/>
              </a:spcAft>
              <a:buNone/>
            </a:pPr>
            <a:r>
              <a:rPr lang="en-US" sz="1800" i="1" dirty="0">
                <a:solidFill>
                  <a:srgbClr val="000000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예수님, 죽음의 자리까지 가신 그 사랑이 제 매일의 자리가 되게 하소서.</a:t>
            </a:r>
            <a:endParaRPr lang="en-US" sz="1800" dirty="0"/>
          </a:p>
          <a:p>
            <a:pPr indent="0" marL="0">
              <a:lnSpc>
                <a:spcPct val="155000"/>
              </a:lnSpc>
              <a:spcAft>
                <a:spcPts val="400"/>
              </a:spcAft>
              <a:buNone/>
            </a:pPr>
            <a:r>
              <a:rPr lang="en-US" sz="1800" i="1" dirty="0">
                <a:solidFill>
                  <a:srgbClr val="000000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이 한 주 묵상이 끝이 아니라, 일상의 시작이 되게 하소서.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5989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00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— 아멘.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0"/>
            <a:ext cx="12161520" cy="36576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0"/>
            <a:ext cx="12161520" cy="36576"/>
          </a:xfrm>
          <a:prstGeom prst="rect">
            <a:avLst/>
          </a:prstGeom>
          <a:solidFill>
            <a:srgbClr val="FF2D87"/>
          </a:solidFill>
          <a:ln/>
        </p:spPr>
      </p:sp>
      <p:sp>
        <p:nvSpPr>
          <p:cNvPr id="14" name="Text 12"/>
          <p:cNvSpPr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8888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16 / 16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888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한 가족이 되신 예수님 · 5일 묵상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한 가족이 되신 예수님 — 5일 묵상</dc:title>
  <dc:subject>PptxGenJS Presentation</dc:subject>
  <dc:creator>csh</dc:creator>
  <cp:lastModifiedBy>csh</cp:lastModifiedBy>
  <cp:revision>1</cp:revision>
  <dcterms:created xsi:type="dcterms:W3CDTF">2026-05-04T10:39:01Z</dcterms:created>
  <dcterms:modified xsi:type="dcterms:W3CDTF">2026-05-04T10:39:01Z</dcterms:modified>
</cp:coreProperties>
</file>