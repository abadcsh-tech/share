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7315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" name="Text 1"/>
          <p:cNvSpPr/>
          <p:nvPr/>
        </p:nvSpPr>
        <p:spPr>
          <a:xfrm>
            <a:off x="5074920" y="731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 자료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61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 파일,</a:t>
            </a:r>
            <a:endParaRPr lang="en-US" sz="7600" dirty="0"/>
          </a:p>
          <a:p>
            <a:pPr algn="ctr" indent="0" marL="0">
              <a:buNone/>
            </a:pPr>
            <a:r>
              <a:rPr lang="en-US" sz="76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것의 </a:t>
            </a:r>
            <a:pPr algn="ctr" indent="0" marL="0">
              <a:buNone/>
            </a:pPr>
            <a:r>
              <a:rPr lang="en-US" sz="76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</a:t>
            </a:r>
            <a:pPr algn="ctr" indent="0" marL="0">
              <a:buNone/>
            </a:pPr>
            <a:r>
              <a:rPr lang="en-US" sz="76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Obsidian × Claude Code, 그리고 마크다운이 만드는 자유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화살표 · Space · 클릭으로 진행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86868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시간에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우리는 </a:t>
            </a:r>
            <a:pPr algn="l" indent="0" marL="0">
              <a:buNone/>
            </a:pPr>
            <a:r>
              <a:rPr lang="en-US" sz="44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세 가지</a:t>
            </a:r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이해하게 됩니다.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3322320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34747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411480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옵시디언이 하는 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4709160"/>
            <a:ext cx="259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 파일을 사람이 보기 편한 형태로 그려주는 도구라는 점.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9600" y="3108960"/>
            <a:ext cx="3322320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5360" y="34747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4785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85360" y="411480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Code가 하는 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85360" y="4709160"/>
            <a:ext cx="259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MD 파일을 자동으로 만들어주는 생산자라는 점.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16240" y="3108960"/>
            <a:ext cx="3322320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2000" y="3474720"/>
            <a:ext cx="502920" cy="502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0" y="4114800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MD를 원본으로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82000" y="4709160"/>
            <a:ext cx="259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.md로 두면, 모든 포맷이 자유로워진다는 점.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/ 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0"/>
            <a:ext cx="173736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OBSIDIAN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옵시디언은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</a:t>
            </a:r>
            <a:pPr algn="l" indent="0" marL="0">
              <a:buNone/>
            </a:pPr>
            <a:r>
              <a:rPr lang="en-US" sz="64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디스플레이어</a:t>
            </a:r>
            <a:pPr algn="l" indent="0" marL="0">
              <a:buNone/>
            </a:pPr>
            <a:r>
              <a:rPr lang="en-US" sz="6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 입니다.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컴퓨터에 저장된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평문 .md 파일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— 사람이 읽기 좋은 모습으로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그려서 보여주는 것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그 이상도, 그 이하도 아닙니다.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파일은 옵시디언의 것이 아닙니다. 옵시디언이 사라져도, .md 파일은 그대로 남습니다.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260604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왼쪽이 </a:t>
            </a:r>
            <a:pPr algn="l" indent="0" marL="0">
              <a:buNone/>
            </a:pPr>
            <a:r>
              <a:rPr lang="en-US" sz="38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.md</a:t>
            </a:r>
            <a:pPr algn="l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· 오른쪽이 </a:t>
            </a:r>
            <a:pPr algn="l" indent="0" marL="0">
              <a:buNone/>
            </a:pPr>
            <a:r>
              <a:rPr lang="en-US" sz="38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옵시디언이 본 화면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1206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43200"/>
            <a:ext cx="5120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8895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8895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288950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88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● ●  sermon.md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MARKDOWN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512064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사랑의 본질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"하나님이 세상을 이처럼 사랑하사" — *요 3:16*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세 가지 핵심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**무조건적** 사랑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**희생하는** 사랑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**지속되는** 사랑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### 적용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이웃을 향해 한 걸음 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`오늘부터` 작은 실천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12064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743200"/>
            <a:ext cx="5120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28895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28895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84848" y="288950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788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◇  Obsidian Preview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12064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사랑의 본질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92240" y="3794760"/>
            <a:ext cx="36576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794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"하나님이 세상을 이처럼 사랑하사" — 요 3:16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핵심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83680" y="4800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무조건적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사랑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희생하는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사랑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지속되는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사랑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6217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이웃을 향해 한 걸음 더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오늘부터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작은 실천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/ 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0"/>
            <a:ext cx="347472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Code는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</a:t>
            </a:r>
            <a:pPr algn="l" indent="0" marL="0">
              <a:buNone/>
            </a:pPr>
            <a:r>
              <a:rPr lang="en-US" sz="64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생산자</a:t>
            </a:r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 입니다.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터미널에서 자연어로 부탁하면 — 글·노트·코드를 </a:t>
            </a:r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.md 파일로 출력</a:t>
            </a:r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출력은 곧바로 옵시디언 볼트에 떨어지고, 옵시디언이 즉시 그려줍니다.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434340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</a:t>
            </a:r>
            <a:pPr algn="l" indent="0" marL="0">
              <a:buNone/>
            </a:pPr>
            <a:r>
              <a:rPr lang="en-US" sz="38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자연어</a:t>
            </a:r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 한 줄이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장의 </a:t>
            </a:r>
            <a:pPr algn="l" indent="0" marL="0">
              <a:buNone/>
            </a:pPr>
            <a:r>
              <a:rPr lang="en-US" sz="38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.md</a:t>
            </a:r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됩니다.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120640" cy="3383280"/>
          </a:xfrm>
          <a:prstGeom prst="roundRect">
            <a:avLst>
              <a:gd name="adj" fmla="val 4054"/>
            </a:avLst>
          </a:prstGeom>
          <a:solidFill>
            <a:srgbClr val="1D1D1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43200"/>
            <a:ext cx="5120640" cy="411480"/>
          </a:xfrm>
          <a:prstGeom prst="rect">
            <a:avLst/>
          </a:prstGeom>
          <a:solidFill>
            <a:srgbClr val="1D1D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8895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8895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288950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88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● ●  Terminal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~/CSH_REMOTE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512064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claude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오늘 설교 핵심 세 가지를 정리해서 새 노트로 만들어줘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✓ 새 파일 생성: 2026-05-04.md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✓ 옵시디언 볼트에 저장됨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✓ 위키링크 3개 자동 연결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 obsidian://open?file=2026-05-04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120640" cy="3383280"/>
          </a:xfrm>
          <a:prstGeom prst="roundRect">
            <a:avLst>
              <a:gd name="adj" fmla="val 4054"/>
            </a:avLst>
          </a:prstGeom>
          <a:solidFill>
            <a:srgbClr val="1D1D1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743200"/>
            <a:ext cx="5120640" cy="411480"/>
          </a:xfrm>
          <a:prstGeom prst="rect">
            <a:avLst/>
          </a:prstGeom>
          <a:solidFill>
            <a:srgbClr val="1D1D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288950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288950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84848" y="288950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788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파일 — 출력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27889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2026-05-04.MD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12064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2026-05-04 주일 설교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세 가지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2519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하나님의 사랑은 무조건적이다.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사랑은 십자가에서 증명된다.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우리는 그 사랑으로 이웃을 사랑한다.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92240" y="5943600"/>
            <a:ext cx="36576" cy="320040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59436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요한복음 3:16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0" y="66294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[[하나님의 사랑]]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[[십자가의 의미]]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[[이웃 사랑의 실천]]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/ 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0"/>
            <a:ext cx="521208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통찰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61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도구는 서로 다른 일을 하지만,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.md 파일</a:t>
            </a:r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봅니다.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493776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Code가 만들고 → 옵시디언이 읽고 → 우리가 옵시디언에서 다듬고 → 다시 Claude Code가 변환합니다.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모두 </a:t>
            </a:r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.md 한 장</a:t>
            </a:r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가운데 두고 돌아갑니다.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608076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CONVERT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하나의 원본,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여섯 개</a:t>
            </a:r>
            <a:pPr algn="l" indent="0" marL="0">
              <a:buNone/>
            </a:pPr>
            <a:r>
              <a:rPr lang="en-US" sz="50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 출력.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.md가 어떻게 다른 형식이 되는가 — 여섯 가지 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3352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1148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D2472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4096512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PowerPoint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74520" y="44805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설교 슬라이드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4360" y="3840480"/>
            <a:ext cx="3352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8680" y="41148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D93025"/>
          </a:solidFill>
          <a:ln/>
        </p:spPr>
      </p:sp>
      <p:sp>
        <p:nvSpPr>
          <p:cNvPr id="12" name="Text 10"/>
          <p:cNvSpPr/>
          <p:nvPr/>
        </p:nvSpPr>
        <p:spPr>
          <a:xfrm>
            <a:off x="467868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PDF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55920" y="4096512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PDF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55920" y="44805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인쇄·배포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85760" y="3840480"/>
            <a:ext cx="3352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0080" y="41148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2B57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6008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37320" y="4096512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Word DOCX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37320" y="44805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교회 양식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257800"/>
            <a:ext cx="3352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53212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44D2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532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5513832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인터랙티브 HTML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874520" y="589788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웹페이지·강의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04360" y="5257800"/>
            <a:ext cx="3352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78680" y="553212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5E35B1"/>
          </a:solidFill>
          <a:ln/>
        </p:spPr>
      </p:sp>
      <p:sp>
        <p:nvSpPr>
          <p:cNvPr id="27" name="Text 25"/>
          <p:cNvSpPr/>
          <p:nvPr/>
        </p:nvSpPr>
        <p:spPr>
          <a:xfrm>
            <a:off x="4678680" y="5532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55920" y="5513832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인포그래픽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55920" y="589788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SNS·카드뉴스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85760" y="5257800"/>
            <a:ext cx="335280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0080" y="553212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1A73E8"/>
          </a:solidFill>
          <a:ln/>
        </p:spPr>
      </p:sp>
      <p:sp>
        <p:nvSpPr>
          <p:cNvPr id="32" name="Text 30"/>
          <p:cNvSpPr/>
          <p:nvPr/>
        </p:nvSpPr>
        <p:spPr>
          <a:xfrm>
            <a:off x="8260080" y="5532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37320" y="5513832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구조화 데이터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037320" y="589788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JSON·DB 연동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 / 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0"/>
            <a:ext cx="694944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MD인가 ·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</a:t>
            </a:r>
            <a:pPr indent="0" marL="0">
              <a:buNone/>
            </a:pPr>
            <a:r>
              <a:rPr lang="en-US" sz="4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평문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가장 잘 읽습니다.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5120640" cy="3108960"/>
          </a:xfrm>
          <a:prstGeom prst="roundRect">
            <a:avLst>
              <a:gd name="adj" fmla="val 5882"/>
            </a:avLst>
          </a:prstGeom>
          <a:solidFill>
            <a:srgbClr val="2A2A2C"/>
          </a:solidFill>
          <a:ln w="19050">
            <a:solidFill>
              <a:srgbClr val="299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Markdown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평문 · 텍스트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가독성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280160" y="5212080"/>
            <a:ext cx="4206240" cy="1097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5212080"/>
            <a:ext cx="4206240" cy="1097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AI가 구조를 한 번에 이해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토큰 효율이 가장 높음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6163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변환·요약·재구성 자유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5120640" cy="3108960"/>
          </a:xfrm>
          <a:prstGeom prst="roundRect">
            <a:avLst>
              <a:gd name="adj" fmla="val 5882"/>
            </a:avLst>
          </a:prstGeom>
          <a:solidFill>
            <a:srgbClr val="2A2A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PPTX / DOCX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바이너리 · 폐쇄적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가독성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675120" y="5212080"/>
            <a:ext cx="4206240" cy="1097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5212080"/>
            <a:ext cx="1472184" cy="10972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구조 정보가 형식 안에 갇힘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파싱이 깨지기 쉬움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6163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이미지·텍스트가 분리되지 않음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 / 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0"/>
            <a:ext cx="781812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MD인가 ·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닫힌 포맷은,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다시 열리지 않습니다.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5120640" cy="3108960"/>
          </a:xfrm>
          <a:prstGeom prst="roundRect">
            <a:avLst>
              <a:gd name="adj" fmla="val 5882"/>
            </a:avLst>
          </a:prstGeom>
          <a:solidFill>
            <a:srgbClr val="2A2A2C"/>
          </a:solidFill>
          <a:ln w="19050">
            <a:solidFill>
              <a:srgbClr val="299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Markdown → 모든 포맷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출구가 열려 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 성공률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98%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280160" y="5212080"/>
            <a:ext cx="4206240" cy="1097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5212080"/>
            <a:ext cx="4122115" cy="1097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→ PPT · PDF · DOCX · HTML 모두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레이아웃 깨짐 거의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6163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한 원본에서 N개 출력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5120640" cy="3108960"/>
          </a:xfrm>
          <a:prstGeom prst="roundRect">
            <a:avLst>
              <a:gd name="adj" fmla="val 5882"/>
            </a:avLst>
          </a:prstGeom>
          <a:solidFill>
            <a:srgbClr val="2A2A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 → 다른 포맷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출구가 막혀 있다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 성공률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675120" y="5212080"/>
            <a:ext cx="4206240" cy="1097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5212080"/>
            <a:ext cx="925373" cy="10972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PPT를 Word로 → 깨짐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PPT를 HTML로 → 거의 불가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6163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매번 처음부터 다시 작업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0"/>
            <a:ext cx="868680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2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MD인가 ·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사라질 가능성은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매우 낮습니다.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5120640" cy="3108960"/>
          </a:xfrm>
          <a:prstGeom prst="roundRect">
            <a:avLst>
              <a:gd name="adj" fmla="val 5882"/>
            </a:avLst>
          </a:prstGeom>
          <a:solidFill>
            <a:srgbClr val="2A2A2C"/>
          </a:solidFill>
          <a:ln w="19050">
            <a:solidFill>
              <a:srgbClr val="299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Markdown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 표준 · 30년+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장기 보존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95%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280160" y="5212080"/>
            <a:ext cx="4206240" cy="1097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5212080"/>
            <a:ext cx="3995928" cy="109728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특정 회사에 종속되지 않음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설령 바뀌어도 변환이 쉬움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6163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가장 대중적 → 미래 호환 유리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5120640" cy="3108960"/>
          </a:xfrm>
          <a:prstGeom prst="roundRect">
            <a:avLst>
              <a:gd name="adj" fmla="val 5882"/>
            </a:avLst>
          </a:prstGeom>
          <a:solidFill>
            <a:srgbClr val="2A2A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독자 포맷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회사·앱 종속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709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장기 보존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675120" y="5212080"/>
            <a:ext cx="4206240" cy="10972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5212080"/>
            <a:ext cx="1682496" cy="10972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앱이 사라지면 파일도 위태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버전 업그레이드마다 호환 깨짐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6163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 옮길 때마다 또 한 번의 변환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0"/>
            <a:ext cx="955548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메인 소스의 문제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"메인 소스가 </a:t>
            </a:r>
            <a:pPr algn="ctr" indent="0" marL="0">
              <a:buNone/>
            </a:pPr>
            <a:r>
              <a:rPr lang="en-US" sz="44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.md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되어 있지 않으면,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파일들은 그저 </a:t>
            </a:r>
            <a:pPr algn="ctr" indent="0" marL="0">
              <a:buNone/>
            </a:pPr>
            <a:r>
              <a:rPr lang="en-US" sz="4400" b="1" dirty="0">
                <a:solidFill>
                  <a:srgbClr val="299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호환되지 않는 섬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존재한다."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PPT를 한 번 만들어두면 — 그것은 그저 PPT일 뿐입니다.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MD에서 PPT로 가는 길은 </a:t>
            </a:r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열려 있고</a:t>
            </a:r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CCC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거꾸로 가는 길은 </a:t>
            </a:r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막혀 있습니다.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042416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흐름은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이렇게 작동합니다.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115568" y="3401568"/>
            <a:ext cx="0" cy="2633472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1089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3108960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 Code로 만든다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3401568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"이번 주 설교 노트 정리해줘" — 자연어 한 줄이면 정돈된 .md가 출력됩니다.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67328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91640" y="3767328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옵시디언이 그려준다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4059936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폴더(볼트)를 옵시디언이 읽어 — 위키링크·태그·그래프뷰까지 살아 있는 노트로.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42569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256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4425696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옵시디언에서 직접 다듬는다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4718304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위키링크 걸기, 메모 추가, 본문 다듬기 — 모두 옵시디언에서. 파일은 여전히 .md.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084064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84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5084064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다시 Claude Code에게 변환을 부탁한다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5376672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"PPT로 만들어줘", "교사용 DOCX로 묶어줘" — 같은 원본에서 필요한 형식만.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742432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742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5742432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원본은 하나, 출력은 무한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603504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주일은 PPT, 월간은 DOCX, 공유는 HTML, SNS는 인포그래픽 — 모두 같은 .md.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/ 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0"/>
            <a:ext cx="1129284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7315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" name="Text 1"/>
          <p:cNvSpPr/>
          <p:nvPr/>
        </p:nvSpPr>
        <p:spPr>
          <a:xfrm>
            <a:off x="5074920" y="731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12161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것은 </a:t>
            </a:r>
            <a:pPr algn="ctr" indent="0" marL="0">
              <a:buNone/>
            </a:pPr>
            <a:r>
              <a:rPr lang="en-US" sz="7600" b="1" dirty="0">
                <a:solidFill>
                  <a:srgbClr val="0066C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.md</a:t>
            </a:r>
            <a:pPr algn="ctr" indent="0" marL="0">
              <a:buNone/>
            </a:pPr>
            <a:r>
              <a:rPr lang="en-US" sz="76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</a:t>
            </a:r>
            <a:endParaRPr lang="en-US" sz="7600" dirty="0"/>
          </a:p>
          <a:p>
            <a:pPr algn="ctr" indent="0" marL="0">
              <a:buNone/>
            </a:pPr>
            <a:r>
              <a:rPr lang="en-US" sz="7600" b="1" dirty="0">
                <a:solidFill>
                  <a:srgbClr val="1D1D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시작합니다.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오늘부터, 노트 한 장을 .md로 — 미래의 모든 형식이 그 안에 들어갑니다.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760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 · 질의응답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MD가 곧 원본이다 — 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 파일, 모든 것의 시작</dc:title>
  <dc:subject>PptxGenJS Presentation</dc:subject>
  <dc:creator>csh</dc:creator>
  <cp:lastModifiedBy>csh</cp:lastModifiedBy>
  <cp:revision>1</cp:revision>
  <dcterms:created xsi:type="dcterms:W3CDTF">2026-05-04T09:20:13Z</dcterms:created>
  <dcterms:modified xsi:type="dcterms:W3CDTF">2026-05-04T09:20:13Z</dcterms:modified>
</cp:coreProperties>
</file>